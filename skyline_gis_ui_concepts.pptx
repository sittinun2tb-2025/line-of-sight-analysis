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ภาพรวม: เสนอ 5 รูปแบบหน้าจอสำหรับเว็บ 3D GIS วิเคราะห์ skyline และเส้นสายตา แต่ละแบบเหมาะกับผู้ใช้และเป้าหมายต่างกัน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แนะนำวิธีเลือก: ยึดผู้ใช้และเป้าหมายเป็นตัวตั้ง และย้ำว่าหลายแบบผสมกันได้ในระบบเดียว (เช่น dashboard เป็นค่าเริ่มต้น + wizard mode สำหรับมือใหม่)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Immersive 3D Viewer: ภาพ 3 มิติครองทั้งหน้าจอ เครื่องมือเป็นแผงกึ่งโปร่งใสลอยทับ ลดกรอบหน้าจอให้เหลือน้อยที่สุด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View: 3D GIS + Skyline (ซิงก์กัน): แสดงแผนที่ 3D GIS กับกราฟ skyline ในหน้าเดียว โดยแกนตำแหน่งของทั้งสองตรงกัน — ชี้/เลือกอาคารในแผนที่ 3D แล้วไฮไลต์ตำแหน่งเดียวกันบนกราฟทันที (ไม่ใช้การ swipe เทียบ)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Analyst Dashboard: เลย์เอาต์ GIS มาตรฐาน: ซ้ายจัดการเลเยอร์/เครื่องมือ กลางมุมมอง 3 มิติ ขวาแสดง KPI และกราฟผลลัพธ์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Wizard Flow: นำผู้ใช้ทีละขั้น (เลือกจุดสำคัญ → ตั้งค่าผู้สังเกต → ประมวลผล → ดูผล) โดยมีแถบขั้นตอนและการ์ดควบคุมเฉพาะขั้น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Compare A/B: มุมมอง 3 มิติสองจอที่ซิงก์กล้องกัน (สภาพปัจจุบัน vs มีโครงการใหม่) พร้อมแถบสรุปผลกระทบเป็นตัวเลข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ปิดท้ายด้วยตารางแนะนำ + ย้ำว่าผสมหลายแบบเป็นโหมดในระบบเดียวได้ เพื่อครอบคลุมทั้งมือใหม่และมืออาชีพ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FC7A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UI / UX CONCEPT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ออกแบบหน้าจอระบบเว็บ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3D GIS วิเคราะห์ Skyline &amp; Line of Sight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9718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8D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รวบรวมรูปแบบหน้าจอ (screen layout) ที่เหมาะกับงานวิเคราะห์เส้นสายตาและเส้นขอบฟ้าในเมือง 5 แบบ — พร้อมจุดเด่น ข้อควรระวัง และกรณีใช้งาน เพื่อเป็นแนวทางก่อนพัฒนาจริง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4343400"/>
            <a:ext cx="2029968" cy="1828800"/>
          </a:xfrm>
          <a:prstGeom prst="roundRect">
            <a:avLst>
              <a:gd name="adj" fmla="val 5000"/>
            </a:avLst>
          </a:prstGeom>
          <a:solidFill>
            <a:srgbClr val="134639"/>
          </a:solidFill>
          <a:ln/>
        </p:spPr>
      </p:sp>
      <p:sp>
        <p:nvSpPr>
          <p:cNvPr id="6" name="Shape 4"/>
          <p:cNvSpPr/>
          <p:nvPr/>
        </p:nvSpPr>
        <p:spPr>
          <a:xfrm>
            <a:off x="941832" y="4590288"/>
            <a:ext cx="457200" cy="4572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5166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Immersive Viewer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5532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8D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3D เต็มจอ + แผงลอย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98648" y="4343400"/>
            <a:ext cx="2029968" cy="1828800"/>
          </a:xfrm>
          <a:prstGeom prst="roundRect">
            <a:avLst>
              <a:gd name="adj" fmla="val 5000"/>
            </a:avLst>
          </a:prstGeom>
          <a:solidFill>
            <a:srgbClr val="134639"/>
          </a:solidFill>
          <a:ln/>
        </p:spPr>
      </p:sp>
      <p:sp>
        <p:nvSpPr>
          <p:cNvPr id="11" name="Shape 9"/>
          <p:cNvSpPr/>
          <p:nvPr/>
        </p:nvSpPr>
        <p:spPr>
          <a:xfrm>
            <a:off x="3154680" y="4590288"/>
            <a:ext cx="457200" cy="4572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81528" y="5166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Split View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81528" y="5532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8D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3D GIS + skyline ซิงก์กัน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11496" y="4343400"/>
            <a:ext cx="2029968" cy="1828800"/>
          </a:xfrm>
          <a:prstGeom prst="roundRect">
            <a:avLst>
              <a:gd name="adj" fmla="val 5000"/>
            </a:avLst>
          </a:prstGeom>
          <a:solidFill>
            <a:srgbClr val="134639"/>
          </a:solidFill>
          <a:ln/>
        </p:spPr>
      </p:sp>
      <p:sp>
        <p:nvSpPr>
          <p:cNvPr id="16" name="Shape 14"/>
          <p:cNvSpPr/>
          <p:nvPr/>
        </p:nvSpPr>
        <p:spPr>
          <a:xfrm>
            <a:off x="5367528" y="4590288"/>
            <a:ext cx="457200" cy="4572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7" name="Text 15"/>
          <p:cNvSpPr/>
          <p:nvPr/>
        </p:nvSpPr>
        <p:spPr>
          <a:xfrm>
            <a:off x="5367528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94376" y="5166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Analyst Dashboard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94376" y="5532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8D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แถบเครื่องมือ + สถิติ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24344" y="4343400"/>
            <a:ext cx="2029968" cy="1828800"/>
          </a:xfrm>
          <a:prstGeom prst="roundRect">
            <a:avLst>
              <a:gd name="adj" fmla="val 5000"/>
            </a:avLst>
          </a:prstGeom>
          <a:solidFill>
            <a:srgbClr val="134639"/>
          </a:solidFill>
          <a:ln/>
        </p:spPr>
      </p:sp>
      <p:sp>
        <p:nvSpPr>
          <p:cNvPr id="21" name="Shape 19"/>
          <p:cNvSpPr/>
          <p:nvPr/>
        </p:nvSpPr>
        <p:spPr>
          <a:xfrm>
            <a:off x="7580376" y="4590288"/>
            <a:ext cx="457200" cy="4572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2" name="Text 20"/>
          <p:cNvSpPr/>
          <p:nvPr/>
        </p:nvSpPr>
        <p:spPr>
          <a:xfrm>
            <a:off x="7580376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07224" y="5166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Guided Wizard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507224" y="5532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8D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ไล่ทีละขั้น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537192" y="4343400"/>
            <a:ext cx="2029968" cy="1828800"/>
          </a:xfrm>
          <a:prstGeom prst="roundRect">
            <a:avLst>
              <a:gd name="adj" fmla="val 5000"/>
            </a:avLst>
          </a:prstGeom>
          <a:solidFill>
            <a:srgbClr val="134639"/>
          </a:solidFill>
          <a:ln/>
        </p:spPr>
      </p:sp>
      <p:sp>
        <p:nvSpPr>
          <p:cNvPr id="26" name="Shape 24"/>
          <p:cNvSpPr/>
          <p:nvPr/>
        </p:nvSpPr>
        <p:spPr>
          <a:xfrm>
            <a:off x="9793224" y="4590288"/>
            <a:ext cx="457200" cy="4572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7" name="Text 25"/>
          <p:cNvSpPr/>
          <p:nvPr/>
        </p:nvSpPr>
        <p:spPr>
          <a:xfrm>
            <a:off x="9793224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720072" y="5166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Scenario Compare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720072" y="5532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8D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เทียบ ก่อน–หลัง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รูปแบบหน้าจอ — ภาพรวมเปรียบเทียบ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E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ทุกแบบมี “มุมมอง 3 มิติ” เป็นแกนกลางเหมือนกัน ต่างกันที่การจัดวางเครื่องมือและการแสดงผลวิเคราะห์</a:t>
            </a:r>
            <a:endParaRPr lang="en-US" sz="1400" dirty="0"/>
          </a:p>
        </p:txBody>
      </p:sp>
      <p:pic>
        <p:nvPicPr>
          <p:cNvPr id="4" name="Image 0" descr="C:/Users/lenovo04/AppData/Local/Temp/claude/E--Github-line-of-sight-analysis/cbc35e11-8caa-4d21-8e68-c302c34cebff/scratchpad/mock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91640"/>
            <a:ext cx="2084832" cy="131535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691640"/>
            <a:ext cx="2084832" cy="1315351"/>
          </a:xfrm>
          <a:prstGeom prst="roundRect">
            <a:avLst>
              <a:gd name="adj" fmla="val 347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DC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8368" y="1581912"/>
            <a:ext cx="384048" cy="38404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8368" y="3080143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Immersive Viewer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8368" y="3391039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E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3D เต็มจอ + แผงลอย</a:t>
            </a:r>
            <a:endParaRPr lang="en-US" sz="1050" dirty="0"/>
          </a:p>
        </p:txBody>
      </p:sp>
      <p:pic>
        <p:nvPicPr>
          <p:cNvPr id="10" name="Image 1" descr="C:/Users/lenovo04/AppData/Local/Temp/claude/E--Github-line-of-sight-analysis/cbc35e11-8caa-4d21-8e68-c302c34cebff/scratchpad/mock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1691640"/>
            <a:ext cx="2084832" cy="131535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944368" y="1691640"/>
            <a:ext cx="2084832" cy="1315351"/>
          </a:xfrm>
          <a:prstGeom prst="roundRect">
            <a:avLst>
              <a:gd name="adj" fmla="val 347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DCD9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944368" y="1581912"/>
            <a:ext cx="384048" cy="38404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3" name="Text 9"/>
          <p:cNvSpPr/>
          <p:nvPr/>
        </p:nvSpPr>
        <p:spPr>
          <a:xfrm>
            <a:off x="2944368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2944368" y="3080143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Split View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944368" y="3391039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E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3D GIS + skyline ซิงก์กัน</a:t>
            </a:r>
            <a:endParaRPr lang="en-US" sz="1050" dirty="0"/>
          </a:p>
        </p:txBody>
      </p:sp>
      <p:pic>
        <p:nvPicPr>
          <p:cNvPr id="16" name="Image 2" descr="C:/Users/lenovo04/AppData/Local/Temp/claude/E--Github-line-of-sight-analysis/cbc35e11-8caa-4d21-8e68-c302c34cebff/scratchpad/mock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1691640"/>
            <a:ext cx="2084832" cy="1315351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230368" y="1691640"/>
            <a:ext cx="2084832" cy="1315351"/>
          </a:xfrm>
          <a:prstGeom prst="roundRect">
            <a:avLst>
              <a:gd name="adj" fmla="val 347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DCD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230368" y="1581912"/>
            <a:ext cx="384048" cy="38404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9" name="Text 14"/>
          <p:cNvSpPr/>
          <p:nvPr/>
        </p:nvSpPr>
        <p:spPr>
          <a:xfrm>
            <a:off x="5230368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5230368" y="3080143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Analyst Dashboard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230368" y="3391039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E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แถบเครื่องมือ + สถิติ</a:t>
            </a:r>
            <a:endParaRPr lang="en-US" sz="1050" dirty="0"/>
          </a:p>
        </p:txBody>
      </p:sp>
      <p:pic>
        <p:nvPicPr>
          <p:cNvPr id="22" name="Image 3" descr="C:/Users/lenovo04/AppData/Local/Temp/claude/E--Github-line-of-sight-analysis/cbc35e11-8caa-4d21-8e68-c302c34cebff/scratchpad/mock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1691640"/>
            <a:ext cx="2084832" cy="1315351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7516368" y="1691640"/>
            <a:ext cx="2084832" cy="1315351"/>
          </a:xfrm>
          <a:prstGeom prst="roundRect">
            <a:avLst>
              <a:gd name="adj" fmla="val 347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DCD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516368" y="1581912"/>
            <a:ext cx="384048" cy="38404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5" name="Text 19"/>
          <p:cNvSpPr/>
          <p:nvPr/>
        </p:nvSpPr>
        <p:spPr>
          <a:xfrm>
            <a:off x="7516368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7516368" y="3080143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Guided Wizard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516368" y="3391039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E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ไล่ทีละขั้น</a:t>
            </a:r>
            <a:endParaRPr lang="en-US" sz="1050" dirty="0"/>
          </a:p>
        </p:txBody>
      </p:sp>
      <p:pic>
        <p:nvPicPr>
          <p:cNvPr id="28" name="Image 4" descr="C:/Users/lenovo04/AppData/Local/Temp/claude/E--Github-line-of-sight-analysis/cbc35e11-8caa-4d21-8e68-c302c34cebff/scratchpad/mock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1691640"/>
            <a:ext cx="2084832" cy="1315351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9802368" y="1691640"/>
            <a:ext cx="2084832" cy="1315351"/>
          </a:xfrm>
          <a:prstGeom prst="roundRect">
            <a:avLst>
              <a:gd name="adj" fmla="val 3476"/>
            </a:avLst>
          </a:prstGeom>
          <a:solidFill>
            <a:srgbClr val="FFFFFF">
              <a:alpha val="0"/>
            </a:srgbClr>
          </a:solidFill>
          <a:ln w="12700">
            <a:solidFill>
              <a:srgbClr val="D7DCD9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9802368" y="1581912"/>
            <a:ext cx="384048" cy="38404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31" name="Text 24"/>
          <p:cNvSpPr/>
          <p:nvPr/>
        </p:nvSpPr>
        <p:spPr>
          <a:xfrm>
            <a:off x="9802368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9802368" y="3080143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Scenario Compare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9802368" y="3391039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E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เทียบ ก่อน–หลัง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40080" y="502920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E9F5F0"/>
          </a:solidFill>
          <a:ln/>
        </p:spPr>
      </p:sp>
      <p:sp>
        <p:nvSpPr>
          <p:cNvPr id="35" name="Text 28"/>
          <p:cNvSpPr/>
          <p:nvPr/>
        </p:nvSpPr>
        <p:spPr>
          <a:xfrm>
            <a:off x="914400" y="519379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F6E5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เลือกอย่างไร: 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เริ่มจาก “ใครใช้” และ “เป้าหมายหลัก” — นำเสนอ/สำรวจ → แบบ 1, วิเคราะห์เจาะลึก → แบบ 2–3, ผู้ใช้ทั่วไป → แบบ 4, ประเมินผลกระทบโครงการ → แบบ 5  (นำหลายแบบมาผสมเป็นโหมดในระบบเดียวได้)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4389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Immersive 3D Viewer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6E5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มุมมองเต็มจอ + แผงเครื่องมือลอย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6867144" cy="4386582"/>
          </a:xfrm>
          <a:prstGeom prst="roundRect">
            <a:avLst>
              <a:gd name="adj" fmla="val 1668"/>
            </a:avLst>
          </a:prstGeom>
          <a:solidFill>
            <a:srgbClr val="FFFFFF"/>
          </a:solidFill>
          <a:ln w="12700">
            <a:solidFill>
              <a:srgbClr val="D7DCD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pic>
        <p:nvPicPr>
          <p:cNvPr id="7" name="Image 0" descr="C:/Users/lenovo04/AppData/Local/Temp/claude/E--Github-line-of-sight-analysis/cbc35e11-8caa-4d21-8e68-c302c34cebff/scratchpad/mock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720840" cy="424027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870448"/>
            <a:ext cx="6720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F6E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 3 มิติครองทั้งหน้าจอ เครื่องมือเป็นแผงกึ่งโปร่งใสลอยทับ ลดกรอบหน้าจอให้เหลือน้อยที่สุด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26680" y="1554480"/>
            <a:ext cx="3794760" cy="1024128"/>
          </a:xfrm>
          <a:prstGeom prst="roundRect">
            <a:avLst>
              <a:gd name="adj" fmla="val 7143"/>
            </a:avLst>
          </a:prstGeom>
          <a:solidFill>
            <a:srgbClr val="E9F5F0"/>
          </a:solidFill>
          <a:ln/>
        </p:spPr>
      </p:sp>
      <p:sp>
        <p:nvSpPr>
          <p:cNvPr id="10" name="Text 7"/>
          <p:cNvSpPr/>
          <p:nvPr/>
        </p:nvSpPr>
        <p:spPr>
          <a:xfrm>
            <a:off x="7955280" y="16642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เหมาะกับ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55280" y="19933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นำเสนอผู้บริหาร/สาธารณะ · จอสัมผัส/คีออสก์ · การสำรวจเชิงลึก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726680" y="27614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จุดเด่น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0" y="3090672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ดื่มด่ำ เห็นบริบทเมืองเต็มพื้นที่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สวยงาม เหมาะสำหรับโชว์เคส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ใช้ได้ดีแม้บนจอขนาดเล็ก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726680" y="45262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3C1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ข้อควรระวัง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0" y="48463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แผงลอยอาจบังภาพบางส่วน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ตั้งค่าหลายพารามิเตอร์พร้อมกันลำบาก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726680" y="58978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F6E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องค์ประกอบ UI หลัก: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6E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floating toolbar · แถบค้นหา · การ์ดผลลัพธ์ · gizmo หมุนมุมกล้อง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4389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Split View: 3D GIS + Skyline (ซิงก์กัน)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6E5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หน้าเดียว — แผนที่ 3D GIS กับกราฟเส้นขอบฟ้าที่สอดคล้องกัน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6867144" cy="4386582"/>
          </a:xfrm>
          <a:prstGeom prst="roundRect">
            <a:avLst>
              <a:gd name="adj" fmla="val 1668"/>
            </a:avLst>
          </a:prstGeom>
          <a:solidFill>
            <a:srgbClr val="FFFFFF"/>
          </a:solidFill>
          <a:ln w="12700">
            <a:solidFill>
              <a:srgbClr val="D7DCD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pic>
        <p:nvPicPr>
          <p:cNvPr id="7" name="Image 0" descr="C:/Users/lenovo04/AppData/Local/Temp/claude/E--Github-line-of-sight-analysis/cbc35e11-8caa-4d21-8e68-c302c34cebff/scratchpad/mock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720840" cy="424027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870448"/>
            <a:ext cx="6720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F6E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แสดงแผนที่ 3D GIS กับกราฟ skyline ในหน้าเดียว โดยแกนตำแหน่งของทั้งสองตรงกัน — ชี้/เลือกอาคารในแผนที่ 3D แล้วไฮไลต์ตำแหน่งเดียวกันบนกราฟทันที (ไม่ใช้การ swipe เทียบ)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26680" y="1554480"/>
            <a:ext cx="3794760" cy="1024128"/>
          </a:xfrm>
          <a:prstGeom prst="roundRect">
            <a:avLst>
              <a:gd name="adj" fmla="val 7143"/>
            </a:avLst>
          </a:prstGeom>
          <a:solidFill>
            <a:srgbClr val="E9F5F0"/>
          </a:solidFill>
          <a:ln/>
        </p:spPr>
      </p:sp>
      <p:sp>
        <p:nvSpPr>
          <p:cNvPr id="10" name="Text 7"/>
          <p:cNvSpPr/>
          <p:nvPr/>
        </p:nvSpPr>
        <p:spPr>
          <a:xfrm>
            <a:off x="7955280" y="16642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เหมาะกับ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55280" y="19933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งานวิเคราะห์ skyline/LOS โดยตรง · นักผังเมือง · สถาปนิก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726680" y="27614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จุดเด่น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0" y="3090672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เห็นมุมมอง 3D และเส้นขอบฟ้าที่สอดคล้องกันในหน้าเดียว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เลือกอาคารในแผนที่ 3D แล้วระบุตำแหน่งบนกราฟทันที (สองมุมมองซิงก์กัน)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ต่อยอดผลงานปัจจุบันได้ (มี LOS/skyline อยู่แล้ว)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726680" y="45262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3C1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ข้อควรระวัง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0" y="48463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 sync แกนตำแหน่งของสองมุมมองให้ตรงเสมอ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กราฟ skyline กินพื้นที่ส่วนหนึ่งของจอ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726680" y="58978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F6E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องค์ประกอบ UI หลัก: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6E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แผนที่ 3D GIS · กราฟ skyline (แกนตำแหน่งร่วม) · เส้น LOS · ตัวเชื่อมไฮไลต์ข้ามมุมมอง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4389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Analyst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6E5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แถบเครื่องมือ + 3D + แผงสถิติ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6867144" cy="4386582"/>
          </a:xfrm>
          <a:prstGeom prst="roundRect">
            <a:avLst>
              <a:gd name="adj" fmla="val 1668"/>
            </a:avLst>
          </a:prstGeom>
          <a:solidFill>
            <a:srgbClr val="FFFFFF"/>
          </a:solidFill>
          <a:ln w="12700">
            <a:solidFill>
              <a:srgbClr val="D7DCD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pic>
        <p:nvPicPr>
          <p:cNvPr id="7" name="Image 0" descr="C:/Users/lenovo04/AppData/Local/Temp/claude/E--Github-line-of-sight-analysis/cbc35e11-8caa-4d21-8e68-c302c34cebff/scratchpad/mock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720840" cy="424027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870448"/>
            <a:ext cx="6720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F6E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เลย์เอาต์ GIS มาตรฐาน: ซ้ายจัดการเลเยอร์/เครื่องมือ กลางมุมมอง 3 มิติ ขวาแสดง KPI และกราฟผลลัพธ์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26680" y="1554480"/>
            <a:ext cx="3794760" cy="1024128"/>
          </a:xfrm>
          <a:prstGeom prst="roundRect">
            <a:avLst>
              <a:gd name="adj" fmla="val 7143"/>
            </a:avLst>
          </a:prstGeom>
          <a:solidFill>
            <a:srgbClr val="E9F5F0"/>
          </a:solidFill>
          <a:ln/>
        </p:spPr>
      </p:sp>
      <p:sp>
        <p:nvSpPr>
          <p:cNvPr id="10" name="Text 7"/>
          <p:cNvSpPr/>
          <p:nvPr/>
        </p:nvSpPr>
        <p:spPr>
          <a:xfrm>
            <a:off x="7955280" y="16642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เหมาะกับ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55280" y="19933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ผู้ใช้มืออาชีพ GIS · งานหลายชั้นข้อมูล · วิเคราะห์เชิงลึกต่อเนื่อง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726680" y="27614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จุดเด่น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0" y="3090672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จัดการหลายเลเยอร์/หลายผลลัพธ์ได้ครบ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รูปแบบคุ้นมือชาว GIS ลดการเรียนรู้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ขยายฟีเจอร์ในอนาคตได้ง่าย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726680" y="45262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3C1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ข้อควรระวัง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0" y="48463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หนาแน่น มือใหม่อาจท่วมท้น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ต้องใช้จอกว้าง พื้นที่ 3 มิติถูกบีบ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726680" y="58978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F6E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องค์ประกอบ UI หลัก: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6E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layer tree · tool palette · 3D · KPI cards · ranking bar · charts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4389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Guided Wizard 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6E5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ไล่ทีละขั้นตอน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6867144" cy="4386582"/>
          </a:xfrm>
          <a:prstGeom prst="roundRect">
            <a:avLst>
              <a:gd name="adj" fmla="val 1668"/>
            </a:avLst>
          </a:prstGeom>
          <a:solidFill>
            <a:srgbClr val="FFFFFF"/>
          </a:solidFill>
          <a:ln w="12700">
            <a:solidFill>
              <a:srgbClr val="D7DCD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pic>
        <p:nvPicPr>
          <p:cNvPr id="7" name="Image 0" descr="C:/Users/lenovo04/AppData/Local/Temp/claude/E--Github-line-of-sight-analysis/cbc35e11-8caa-4d21-8e68-c302c34cebff/scratchpad/mock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720840" cy="424027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870448"/>
            <a:ext cx="6720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F6E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นำผู้ใช้ทีละขั้น (เลือกจุดสำคัญ → ตั้งค่าผู้สังเกต → ประมวลผล → ดูผล) โดยมีแถบขั้นตอนและการ์ดควบคุมเฉพาะขั้น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26680" y="1554480"/>
            <a:ext cx="3794760" cy="1024128"/>
          </a:xfrm>
          <a:prstGeom prst="roundRect">
            <a:avLst>
              <a:gd name="adj" fmla="val 7143"/>
            </a:avLst>
          </a:prstGeom>
          <a:solidFill>
            <a:srgbClr val="E9F5F0"/>
          </a:solidFill>
          <a:ln/>
        </p:spPr>
      </p:sp>
      <p:sp>
        <p:nvSpPr>
          <p:cNvPr id="10" name="Text 7"/>
          <p:cNvSpPr/>
          <p:nvPr/>
        </p:nvSpPr>
        <p:spPr>
          <a:xfrm>
            <a:off x="7955280" y="16642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เหมาะกับ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55280" y="19933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ผู้ใช้ไม่ชำนาญ GIS · เจ้าหน้าที่ท้องถิ่น · งานที่อยากได้ผลเร็ว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726680" y="27614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จุดเด่น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0" y="3090672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ลดความสับสน ทำตามได้ทันที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ป้องกันการตั้งค่าผิดลำดับ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สอนวิธีใช้งานในตัว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726680" y="45262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3C1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ข้อควรระวัง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0" y="48463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ช้าสำหรับผู้ใช้ชำนาญ (power user)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ยืดหยุ่นน้อย ไม่เหมาะทำซ้ำถี่ ๆ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726680" y="58978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F6E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องค์ประกอบ UI หลัก: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6E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แถบขั้นตอน (stepper) · การ์ดควบคุมรายขั้น · พรีวิว 3D · ปุ่มย้อน/ถัดไป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66928" cy="5669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4389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Scenario Compare A/B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6E5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เทียบ ก่อน–หลัง แบบ 2 จอซิงก์กัน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6867144" cy="4386582"/>
          </a:xfrm>
          <a:prstGeom prst="roundRect">
            <a:avLst>
              <a:gd name="adj" fmla="val 1668"/>
            </a:avLst>
          </a:prstGeom>
          <a:solidFill>
            <a:srgbClr val="FFFFFF"/>
          </a:solidFill>
          <a:ln w="12700">
            <a:solidFill>
              <a:srgbClr val="D7DCD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4000"/>
              </a:srgbClr>
            </a:outerShdw>
          </a:effectLst>
        </p:spPr>
      </p:sp>
      <p:pic>
        <p:nvPicPr>
          <p:cNvPr id="7" name="Image 0" descr="C:/Users/lenovo04/AppData/Local/Temp/claude/E--Github-line-of-sight-analysis/cbc35e11-8caa-4d21-8e68-c302c34cebff/scratchpad/mock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720840" cy="424027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870448"/>
            <a:ext cx="6720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F6E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มุมมอง 3 มิติสองจอที่ซิงก์กล้องกัน (สภาพปัจจุบัน vs มีโครงการใหม่) พร้อมแถบสรุปผลกระทบเป็นตัวเลข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26680" y="1554480"/>
            <a:ext cx="3794760" cy="1024128"/>
          </a:xfrm>
          <a:prstGeom prst="roundRect">
            <a:avLst>
              <a:gd name="adj" fmla="val 7143"/>
            </a:avLst>
          </a:prstGeom>
          <a:solidFill>
            <a:srgbClr val="E9F5F0"/>
          </a:solidFill>
          <a:ln/>
        </p:spPr>
      </p:sp>
      <p:sp>
        <p:nvSpPr>
          <p:cNvPr id="10" name="Text 7"/>
          <p:cNvSpPr/>
          <p:nvPr/>
        </p:nvSpPr>
        <p:spPr>
          <a:xfrm>
            <a:off x="7955280" y="16642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5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เหมาะกับ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55280" y="19933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ประเมินผลกระทบ (EIA/HIA) · พิจารณาอนุมัติโครงการ · เทียบทางเลือก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726680" y="27614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จุดเด่น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0" y="3090672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เห็นผลกระทบต่อมุมมองทันที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สื่อสารกับผู้ตัดสินใจได้ทรงพลัง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วัดส่วนต่าง (delta) เป็นตัวเลขชัด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726680" y="45262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3C1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ข้อควรระวัง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0" y="48463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ต้องมีข้อมูลแบบจำลองโครงการใหม่</a:t>
            </a:r>
            <a:endParaRPr lang="en-US" sz="11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B2A2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จอแบ่งครึ่ง พื้นที่ต่อฝั่งจำกัด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726680" y="58978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F6E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องค์ประกอบ UI หลัก: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F6E6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dual synced viewport · สลับ scenario · แถบ impact delta · ซ้อนเส้นขอบฟ้า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เลือกแบบไหน — ตามเป้าหมายการใช้งาน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463040"/>
            <a:ext cx="5852160" cy="603504"/>
          </a:xfrm>
          <a:prstGeom prst="roundRect">
            <a:avLst>
              <a:gd name="adj" fmla="val 12121"/>
            </a:avLst>
          </a:prstGeom>
          <a:solidFill>
            <a:srgbClr val="13463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8D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นำเสนอ / สื่อสารสาธารณะ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83680" y="146304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C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086600" y="1463040"/>
            <a:ext cx="4434840" cy="603504"/>
          </a:xfrm>
          <a:prstGeom prst="roundRect">
            <a:avLst>
              <a:gd name="adj" fmla="val 12121"/>
            </a:avLst>
          </a:prstGeom>
          <a:solidFill>
            <a:srgbClr val="0F6E5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0" y="146304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แบบ 1  Immersive Viewer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212848"/>
            <a:ext cx="5852160" cy="603504"/>
          </a:xfrm>
          <a:prstGeom prst="roundRect">
            <a:avLst>
              <a:gd name="adj" fmla="val 12121"/>
            </a:avLst>
          </a:prstGeom>
          <a:solidFill>
            <a:srgbClr val="13463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12848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8D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วิเคราะห์ skyline &amp; เส้นสายตาเจาะลึก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0" y="221284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C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086600" y="2212848"/>
            <a:ext cx="4434840" cy="603504"/>
          </a:xfrm>
          <a:prstGeom prst="roundRect">
            <a:avLst>
              <a:gd name="adj" fmla="val 12121"/>
            </a:avLst>
          </a:prstGeom>
          <a:solidFill>
            <a:srgbClr val="0F6E5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221284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แบบ 2  Split View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2962656"/>
            <a:ext cx="5852160" cy="603504"/>
          </a:xfrm>
          <a:prstGeom prst="roundRect">
            <a:avLst>
              <a:gd name="adj" fmla="val 12121"/>
            </a:avLst>
          </a:prstGeom>
          <a:solidFill>
            <a:srgbClr val="13463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962656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8D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 GIS มืออาชีพ หลายชั้นข้อมูล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296265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C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086600" y="2962656"/>
            <a:ext cx="4434840" cy="603504"/>
          </a:xfrm>
          <a:prstGeom prst="roundRect">
            <a:avLst>
              <a:gd name="adj" fmla="val 12121"/>
            </a:avLst>
          </a:prstGeom>
          <a:solidFill>
            <a:srgbClr val="0F6E5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296265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แบบ 3  Analyst Dashboard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5800" y="3712464"/>
            <a:ext cx="5852160" cy="603504"/>
          </a:xfrm>
          <a:prstGeom prst="roundRect">
            <a:avLst>
              <a:gd name="adj" fmla="val 12121"/>
            </a:avLst>
          </a:prstGeom>
          <a:solidFill>
            <a:srgbClr val="134639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712464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8D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ผู้ใช้ทั่วไป / อยากได้ผลเร็ว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83680" y="371246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C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086600" y="3712464"/>
            <a:ext cx="4434840" cy="603504"/>
          </a:xfrm>
          <a:prstGeom prst="roundRect">
            <a:avLst>
              <a:gd name="adj" fmla="val 12121"/>
            </a:avLst>
          </a:prstGeom>
          <a:solidFill>
            <a:srgbClr val="0F6E5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3712464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แบบ 4  Guided Wizard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85800" y="4462272"/>
            <a:ext cx="5852160" cy="603504"/>
          </a:xfrm>
          <a:prstGeom prst="roundRect">
            <a:avLst>
              <a:gd name="adj" fmla="val 12121"/>
            </a:avLst>
          </a:prstGeom>
          <a:solidFill>
            <a:srgbClr val="134639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462272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8D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ประเมินผลกระทบโครงการใหม่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83680" y="4462272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C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086600" y="4462272"/>
            <a:ext cx="4434840" cy="603504"/>
          </a:xfrm>
          <a:prstGeom prst="roundRect">
            <a:avLst>
              <a:gd name="adj" fmla="val 12121"/>
            </a:avLst>
          </a:prstGeom>
          <a:solidFill>
            <a:srgbClr val="0F6E5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446227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แบบ 5  Scenario Compare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5800" y="5440680"/>
            <a:ext cx="10835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7FC7A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ข้อเสนอแนะ:  </a:t>
            </a:r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CFE8D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ไม่จำเป็นต้องเลือกแบบเดียว — ออกแบบระบบให้ Analyst Dashboard (แบบ 3) เป็นค่าเริ่มต้น แล้วมี Wizard (แบบ 4) เป็นโหมดผู้เริ่มต้น และ Compare (แบบ 5) เป็นโหมดประเมินโครงการ จะครอบคลุมผู้ใช้ทุกกลุ่ม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GIS Skyline &amp; Line-of-Sight — UI Concepts</dc:title>
  <dc:subject>PptxGenJS Presentation</dc:subject>
  <dc:creator>3D GIS UI Concepts</dc:creator>
  <cp:lastModifiedBy>3D GIS UI Concepts</cp:lastModifiedBy>
  <cp:revision>1</cp:revision>
  <dcterms:created xsi:type="dcterms:W3CDTF">2026-07-13T09:07:08Z</dcterms:created>
  <dcterms:modified xsi:type="dcterms:W3CDTF">2026-07-13T09:07:08Z</dcterms:modified>
</cp:coreProperties>
</file>